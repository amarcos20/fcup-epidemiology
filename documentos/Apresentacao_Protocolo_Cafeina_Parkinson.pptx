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utSelywXQAGCPfhK49H0D7B5o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 rot="5400000">
            <a:off x="4479118" y="1219103"/>
            <a:ext cx="9329765" cy="8948959"/>
            <a:chOff x="0" y="0"/>
            <a:chExt cx="622300" cy="5969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028700" y="8689832"/>
            <a:ext cx="16230600" cy="568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126275" y="2794653"/>
            <a:ext cx="13793771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Consumo Habitual de Cafeína 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Risco de Doença de Parkinson: 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071514" y="9386377"/>
            <a:ext cx="1414497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200">
                <a:solidFill>
                  <a:srgbClr val="CFCFCF"/>
                </a:solidFill>
                <a:latin typeface="Arial"/>
                <a:ea typeface="Arial"/>
                <a:cs typeface="Arial"/>
                <a:sym typeface="Arial"/>
              </a:rPr>
              <a:t>AFONSO SANTOS, AFONSO MARCOS, ARTUR ANSELMO, PEDRO AFONSO, RAFAEL SANTOS</a:t>
            </a:r>
            <a:endParaRPr sz="2200">
              <a:solidFill>
                <a:srgbClr val="CFC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200398" y="5185180"/>
            <a:ext cx="11645525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400">
                <a:solidFill>
                  <a:srgbClr val="CFCFCF"/>
                </a:solidFill>
                <a:latin typeface="Arial"/>
                <a:ea typeface="Arial"/>
                <a:cs typeface="Arial"/>
                <a:sym typeface="Arial"/>
              </a:rPr>
              <a:t>Protocolo de um Estudo Caso-Controlo nas ULSs de Santo António e São João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5715000" y="8488000"/>
            <a:ext cx="6858000" cy="613156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5562600" y="8611197"/>
            <a:ext cx="7162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L:BIOINF | EPIDEMIOLOGIA | 2026/2027</a:t>
            </a:r>
            <a:endParaRPr/>
          </a:p>
        </p:txBody>
      </p:sp>
      <p:cxnSp>
        <p:nvCxnSpPr>
          <p:cNvPr id="99" name="Google Shape;99;p1"/>
          <p:cNvCxnSpPr/>
          <p:nvPr/>
        </p:nvCxnSpPr>
        <p:spPr>
          <a:xfrm>
            <a:off x="3086100" y="4880380"/>
            <a:ext cx="12115800" cy="0"/>
          </a:xfrm>
          <a:prstGeom prst="straightConnector1">
            <a:avLst/>
          </a:prstGeom>
          <a:noFill/>
          <a:ln cap="flat" cmpd="sng" w="50800">
            <a:solidFill>
              <a:srgbClr val="CFCFCF">
                <a:alpha val="2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"/>
          <p:cNvSpPr/>
          <p:nvPr/>
        </p:nvSpPr>
        <p:spPr>
          <a:xfrm>
            <a:off x="377551" y="334242"/>
            <a:ext cx="3813449" cy="1243926"/>
          </a:xfrm>
          <a:custGeom>
            <a:rect b="b" l="l" r="r" t="t"/>
            <a:pathLst>
              <a:path extrusionOk="0" h="3470916" w="10640637">
                <a:moveTo>
                  <a:pt x="0" y="0"/>
                </a:moveTo>
                <a:lnTo>
                  <a:pt x="10640638" y="0"/>
                </a:lnTo>
                <a:lnTo>
                  <a:pt x="10640638" y="3470916"/>
                </a:lnTo>
                <a:lnTo>
                  <a:pt x="0" y="3470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 rot="10800000">
            <a:off x="16161725" y="2953439"/>
            <a:ext cx="3952698" cy="3853881"/>
          </a:xfrm>
          <a:custGeom>
            <a:rect b="b" l="l" r="r" t="t"/>
            <a:pathLst>
              <a:path extrusionOk="0" h="3853881" w="3952698">
                <a:moveTo>
                  <a:pt x="0" y="0"/>
                </a:moveTo>
                <a:lnTo>
                  <a:pt x="3952698" y="0"/>
                </a:lnTo>
                <a:lnTo>
                  <a:pt x="3952698" y="3853880"/>
                </a:lnTo>
                <a:lnTo>
                  <a:pt x="0" y="385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 rot="5400000">
            <a:off x="4479117" y="1219103"/>
            <a:ext cx="9329765" cy="8948959"/>
            <a:chOff x="0" y="0"/>
            <a:chExt cx="622300" cy="5969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 rot="5400000">
            <a:off x="-3390803" y="11557026"/>
            <a:ext cx="9329765" cy="8948959"/>
            <a:chOff x="0" y="0"/>
            <a:chExt cx="622300" cy="596900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7325377" y="1702707"/>
            <a:ext cx="3637246" cy="3637246"/>
          </a:xfrm>
          <a:prstGeom prst="ellipse">
            <a:avLst/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029200" y="5693582"/>
            <a:ext cx="82296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934200" y="2207955"/>
            <a:ext cx="41760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868828" y="2149571"/>
            <a:ext cx="8785764" cy="7261130"/>
          </a:xfrm>
          <a:prstGeom prst="roundRect">
            <a:avLst>
              <a:gd fmla="val 6466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3"/>
          <p:cNvGrpSpPr/>
          <p:nvPr/>
        </p:nvGrpSpPr>
        <p:grpSpPr>
          <a:xfrm rot="5400000">
            <a:off x="4619198" y="1283636"/>
            <a:ext cx="9329765" cy="8948959"/>
            <a:chOff x="0" y="0"/>
            <a:chExt cx="622300" cy="59690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 rot="5400000">
            <a:off x="-3390803" y="11557026"/>
            <a:ext cx="9329765" cy="8948959"/>
            <a:chOff x="0" y="0"/>
            <a:chExt cx="622300" cy="596900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3"/>
          <p:cNvSpPr txBox="1"/>
          <p:nvPr/>
        </p:nvSpPr>
        <p:spPr>
          <a:xfrm>
            <a:off x="586836" y="647700"/>
            <a:ext cx="1188749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Doença de Parkinson (DP)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 flipH="1" rot="10800000">
            <a:off x="586836" y="1771299"/>
            <a:ext cx="11681364" cy="19401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3"/>
          <p:cNvSpPr txBox="1"/>
          <p:nvPr/>
        </p:nvSpPr>
        <p:spPr>
          <a:xfrm>
            <a:off x="769641" y="2127267"/>
            <a:ext cx="6710875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2.ª patologia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neurodegenerativa </a:t>
            </a: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mais prevalente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nível global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Degenerescência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seletiva dos neurónios dopaminérgicos (substância negra)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Manifestação clínica por </a:t>
            </a: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sintomas motores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(tremor, bradicinesia, rigidez)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Incidência com subida acentuada a partir dos 50 anos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9186253" y="3266601"/>
            <a:ext cx="8385460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Fatores de risco: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Exposição ocupacional a pesticidas, traumatismos cranianos prévios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Fatores inversamente associados (protetores):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Tabagismo e consumo de cafeína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8534400" y="2416096"/>
            <a:ext cx="79239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Etiologia Multifatorial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9173735" y="6134100"/>
            <a:ext cx="607303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Contexto Nacional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9195530" y="6896100"/>
            <a:ext cx="8096021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População envelhecida: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&gt;4,6 milhões com idade ≥ 50 anos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Prevalência estimada: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0,24% (cerca de 180 casos por 100 000 hab.)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 rot="4600210">
            <a:off x="6109683" y="1608808"/>
            <a:ext cx="1597057" cy="1788081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" y="-35732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8868828" y="2149571"/>
            <a:ext cx="8785764" cy="7261130"/>
          </a:xfrm>
          <a:prstGeom prst="roundRect">
            <a:avLst>
              <a:gd fmla="val 6466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4"/>
          <p:cNvGrpSpPr/>
          <p:nvPr/>
        </p:nvGrpSpPr>
        <p:grpSpPr>
          <a:xfrm rot="5400000">
            <a:off x="4619198" y="1283636"/>
            <a:ext cx="9329765" cy="8948959"/>
            <a:chOff x="0" y="0"/>
            <a:chExt cx="622300" cy="596900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 rot="5400000">
            <a:off x="4203945" y="14401703"/>
            <a:ext cx="9329765" cy="8948959"/>
            <a:chOff x="0" y="0"/>
            <a:chExt cx="622300" cy="596900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4"/>
          <p:cNvSpPr txBox="1"/>
          <p:nvPr/>
        </p:nvSpPr>
        <p:spPr>
          <a:xfrm>
            <a:off x="556349" y="802652"/>
            <a:ext cx="170153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Cafeína &amp; Mecanismo Neuroprotetor</a:t>
            </a:r>
            <a:endParaRPr b="1" sz="6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 flipH="1" rot="10800000">
            <a:off x="586836" y="1787010"/>
            <a:ext cx="14119764" cy="3690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4"/>
          <p:cNvSpPr txBox="1"/>
          <p:nvPr/>
        </p:nvSpPr>
        <p:spPr>
          <a:xfrm>
            <a:off x="633408" y="2149571"/>
            <a:ext cx="6710875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Substância psicoativa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mais consumido mundialmente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Mecanismo Central: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Bloqueio / antagonismo dos recetores de adenosina 𝐴_2𝐴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Interação direta com a neurotransmissão dopaminérgica estriatal 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9186253" y="3266601"/>
            <a:ext cx="8385460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Redução da neuroinflamação local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Inibição da excitotoxicidade por glutamato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Ação antioxidante e preservação neuronal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Associação a ~25% de redução no risco de DP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Ação predominantemente preventiva (sem benefício motor comprovado pós-diagnóstico) 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186253" y="2401877"/>
            <a:ext cx="79239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Efeitos Biológicos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-1062780" y="6863454"/>
            <a:ext cx="3952698" cy="3853881"/>
          </a:xfrm>
          <a:custGeom>
            <a:rect b="b" l="l" r="r" t="t"/>
            <a:pathLst>
              <a:path extrusionOk="0" h="3853881" w="3952698">
                <a:moveTo>
                  <a:pt x="0" y="0"/>
                </a:moveTo>
                <a:lnTo>
                  <a:pt x="3952698" y="0"/>
                </a:lnTo>
                <a:lnTo>
                  <a:pt x="3952698" y="3853880"/>
                </a:lnTo>
                <a:lnTo>
                  <a:pt x="0" y="385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4"/>
          <p:cNvSpPr txBox="1"/>
          <p:nvPr/>
        </p:nvSpPr>
        <p:spPr>
          <a:xfrm>
            <a:off x="9299744" y="5514284"/>
            <a:ext cx="79239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Papel Clínico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" y="-35732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868828" y="2149571"/>
            <a:ext cx="8785764" cy="3733131"/>
          </a:xfrm>
          <a:prstGeom prst="roundRect">
            <a:avLst>
              <a:gd fmla="val 6466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5"/>
          <p:cNvGrpSpPr/>
          <p:nvPr/>
        </p:nvGrpSpPr>
        <p:grpSpPr>
          <a:xfrm rot="5400000">
            <a:off x="4619198" y="1283636"/>
            <a:ext cx="9329765" cy="8948959"/>
            <a:chOff x="0" y="0"/>
            <a:chExt cx="622300" cy="596900"/>
          </a:xfrm>
        </p:grpSpPr>
        <p:sp>
          <p:nvSpPr>
            <p:cNvPr id="165" name="Google Shape;165;p5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5"/>
          <p:cNvGrpSpPr/>
          <p:nvPr/>
        </p:nvGrpSpPr>
        <p:grpSpPr>
          <a:xfrm rot="5400000">
            <a:off x="4203945" y="14401703"/>
            <a:ext cx="9329765" cy="8948959"/>
            <a:chOff x="0" y="0"/>
            <a:chExt cx="622300" cy="596900"/>
          </a:xfrm>
        </p:grpSpPr>
        <p:sp>
          <p:nvSpPr>
            <p:cNvPr id="168" name="Google Shape;168;p5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5"/>
          <p:cNvSpPr txBox="1"/>
          <p:nvPr/>
        </p:nvSpPr>
        <p:spPr>
          <a:xfrm>
            <a:off x="620708" y="627497"/>
            <a:ext cx="1701536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PICO</a:t>
            </a:r>
            <a:endParaRPr b="1" sz="7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586836" y="1790700"/>
            <a:ext cx="7261764" cy="0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 txBox="1"/>
          <p:nvPr/>
        </p:nvSpPr>
        <p:spPr>
          <a:xfrm>
            <a:off x="633408" y="2149571"/>
            <a:ext cx="7287380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1" lang="pt-PT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(População): Adultos com idade ≥50anos nas ULSs Santo António e São João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1" lang="pt-PT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(Exposição): Consumo habitual de cafeína (5–10 anos antes do diagnóstico)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1" lang="pt-PT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(Comparador): Não consumo ou consumo reduzido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1" lang="pt-PT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Desfecho): Ocorrência de Doença de Parkinson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9186253" y="3266601"/>
            <a:ext cx="8385460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𝐻</a:t>
            </a:r>
            <a:r>
              <a:rPr lang="pt-PT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Ausência de associação entre o consumo de cafeína e o risco de DP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𝐻</a:t>
            </a:r>
            <a:r>
              <a:rPr lang="pt-PT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O consumo regular associa-se a menor risco de DP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9186253" y="2401877"/>
            <a:ext cx="79239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Hipóteses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6"/>
          <p:cNvGrpSpPr/>
          <p:nvPr/>
        </p:nvGrpSpPr>
        <p:grpSpPr>
          <a:xfrm rot="5400000">
            <a:off x="4479117" y="1219103"/>
            <a:ext cx="9329765" cy="8948959"/>
            <a:chOff x="0" y="0"/>
            <a:chExt cx="622300" cy="59690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6"/>
          <p:cNvGrpSpPr/>
          <p:nvPr/>
        </p:nvGrpSpPr>
        <p:grpSpPr>
          <a:xfrm rot="5400000">
            <a:off x="-3390803" y="11557026"/>
            <a:ext cx="9329765" cy="8948959"/>
            <a:chOff x="0" y="0"/>
            <a:chExt cx="622300" cy="596900"/>
          </a:xfrm>
        </p:grpSpPr>
        <p:sp>
          <p:nvSpPr>
            <p:cNvPr id="184" name="Google Shape;184;p6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6"/>
          <p:cNvSpPr/>
          <p:nvPr/>
        </p:nvSpPr>
        <p:spPr>
          <a:xfrm>
            <a:off x="7325377" y="1702707"/>
            <a:ext cx="3637246" cy="3637246"/>
          </a:xfrm>
          <a:prstGeom prst="ellipse">
            <a:avLst/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5029200" y="5693582"/>
            <a:ext cx="82296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934200" y="2207955"/>
            <a:ext cx="41760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" y="-35732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12236" y="2172427"/>
            <a:ext cx="7693564" cy="5028471"/>
          </a:xfrm>
          <a:prstGeom prst="roundRect">
            <a:avLst>
              <a:gd fmla="val 6466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7"/>
          <p:cNvGrpSpPr/>
          <p:nvPr/>
        </p:nvGrpSpPr>
        <p:grpSpPr>
          <a:xfrm rot="5400000">
            <a:off x="4669215" y="1254834"/>
            <a:ext cx="9329765" cy="8948959"/>
            <a:chOff x="0" y="0"/>
            <a:chExt cx="622300" cy="596900"/>
          </a:xfrm>
        </p:grpSpPr>
        <p:sp>
          <p:nvSpPr>
            <p:cNvPr id="197" name="Google Shape;197;p7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7"/>
          <p:cNvGrpSpPr/>
          <p:nvPr/>
        </p:nvGrpSpPr>
        <p:grpSpPr>
          <a:xfrm rot="5400000">
            <a:off x="4203945" y="14401703"/>
            <a:ext cx="9329765" cy="8948959"/>
            <a:chOff x="0" y="0"/>
            <a:chExt cx="622300" cy="596900"/>
          </a:xfrm>
        </p:grpSpPr>
        <p:sp>
          <p:nvSpPr>
            <p:cNvPr id="200" name="Google Shape;200;p7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7"/>
          <p:cNvSpPr txBox="1"/>
          <p:nvPr/>
        </p:nvSpPr>
        <p:spPr>
          <a:xfrm>
            <a:off x="620708" y="627497"/>
            <a:ext cx="1701536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b="1" sz="7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7"/>
          <p:cNvCxnSpPr/>
          <p:nvPr/>
        </p:nvCxnSpPr>
        <p:spPr>
          <a:xfrm>
            <a:off x="586836" y="1790700"/>
            <a:ext cx="7261764" cy="0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7"/>
          <p:cNvSpPr txBox="1"/>
          <p:nvPr/>
        </p:nvSpPr>
        <p:spPr>
          <a:xfrm>
            <a:off x="915269" y="3385959"/>
            <a:ext cx="7287380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Estudo caso-controlo multicêntrico hospitalar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Emparelhamento: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Proporção 1:1 por sexo e idade (±3 anos)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Centros: </a:t>
            </a: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ULS de Santo António e ULS de São João 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8839200" y="2960224"/>
            <a:ext cx="838546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Casos: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Idade ≥ 50 anos com diagnóstico incidente recente (&lt;2 anos)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Confirmados em consultas de Neurologia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Controlos: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Utentes sem patologia neurodegenerativa ou parkinsonismo secundário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Recrutados em consultas externas/internamento não urgente (ex.: ortopedia, oftalmologia, cirurgia) 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8977091" y="2091634"/>
            <a:ext cx="79239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População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915269" y="2460966"/>
            <a:ext cx="79239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Desenho de estudo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" y="0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0668000" y="2149571"/>
            <a:ext cx="6172200" cy="5584729"/>
          </a:xfrm>
          <a:prstGeom prst="roundRect">
            <a:avLst>
              <a:gd fmla="val 6466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8"/>
          <p:cNvGrpSpPr/>
          <p:nvPr/>
        </p:nvGrpSpPr>
        <p:grpSpPr>
          <a:xfrm rot="5400000">
            <a:off x="4619198" y="1283636"/>
            <a:ext cx="9329765" cy="8948959"/>
            <a:chOff x="0" y="0"/>
            <a:chExt cx="622300" cy="596900"/>
          </a:xfrm>
        </p:grpSpPr>
        <p:sp>
          <p:nvSpPr>
            <p:cNvPr id="216" name="Google Shape;216;p8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8"/>
          <p:cNvGrpSpPr/>
          <p:nvPr/>
        </p:nvGrpSpPr>
        <p:grpSpPr>
          <a:xfrm rot="5400000">
            <a:off x="4203945" y="14401703"/>
            <a:ext cx="9329765" cy="8948959"/>
            <a:chOff x="0" y="0"/>
            <a:chExt cx="622300" cy="596900"/>
          </a:xfrm>
        </p:grpSpPr>
        <p:sp>
          <p:nvSpPr>
            <p:cNvPr id="219" name="Google Shape;219;p8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8"/>
          <p:cNvSpPr txBox="1"/>
          <p:nvPr/>
        </p:nvSpPr>
        <p:spPr>
          <a:xfrm>
            <a:off x="556349" y="802652"/>
            <a:ext cx="170153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da Exposição à Cafeína</a:t>
            </a:r>
            <a:endParaRPr b="1" sz="6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 flipH="1" rot="10800000">
            <a:off x="586836" y="1787010"/>
            <a:ext cx="14119764" cy="3690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 txBox="1"/>
          <p:nvPr/>
        </p:nvSpPr>
        <p:spPr>
          <a:xfrm>
            <a:off x="633408" y="2149571"/>
            <a:ext cx="7887382" cy="7755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Instrumento: Questionário de frequência alimentar estruturado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Janela Temporal: 5 a 10 anos pré-sintomas (evita causalidade reversa)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Fontes: Café expresso, café de filtro, galão, chá e bebidas energéticas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Padronização do Teor de Cafeína: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Expresso / Galão: </a:t>
            </a: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≈100 mg/dose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Filtro: </a:t>
            </a: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130 mg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Chá: </a:t>
            </a: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 mg (por 240 mL)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b="1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Bebidas energéticas: </a:t>
            </a:r>
            <a:r>
              <a:rPr b="0" i="0" lang="pt-PT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72 – 80 mg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0972800" y="3963834"/>
            <a:ext cx="5562343" cy="389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Não consumidores: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&lt;50 mg/dia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Consumo moderado: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50 – 200 mg/dia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Consumo elevado: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≥200 mg/dia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11049869" y="2401877"/>
            <a:ext cx="792393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Categorização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Dose-Resposta: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457625" y="8267700"/>
            <a:ext cx="1081043" cy="1351304"/>
          </a:xfrm>
          <a:custGeom>
            <a:rect b="b" l="l" r="r" t="t"/>
            <a:pathLst>
              <a:path extrusionOk="0" h="6681602" w="5345282">
                <a:moveTo>
                  <a:pt x="0" y="0"/>
                </a:moveTo>
                <a:lnTo>
                  <a:pt x="5345282" y="0"/>
                </a:lnTo>
                <a:lnTo>
                  <a:pt x="5345282" y="6681603"/>
                </a:lnTo>
                <a:lnTo>
                  <a:pt x="0" y="6681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8"/>
          <p:cNvSpPr/>
          <p:nvPr/>
        </p:nvSpPr>
        <p:spPr>
          <a:xfrm>
            <a:off x="7457625" y="6000914"/>
            <a:ext cx="1063165" cy="823953"/>
          </a:xfrm>
          <a:custGeom>
            <a:rect b="b" l="l" r="r" t="t"/>
            <a:pathLst>
              <a:path extrusionOk="0" h="3612227" w="4660938">
                <a:moveTo>
                  <a:pt x="0" y="0"/>
                </a:moveTo>
                <a:lnTo>
                  <a:pt x="4660938" y="0"/>
                </a:lnTo>
                <a:lnTo>
                  <a:pt x="4660938" y="3612227"/>
                </a:lnTo>
                <a:lnTo>
                  <a:pt x="0" y="3612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8"/>
          <p:cNvSpPr/>
          <p:nvPr/>
        </p:nvSpPr>
        <p:spPr>
          <a:xfrm>
            <a:off x="8694113" y="6499581"/>
            <a:ext cx="1135700" cy="1368313"/>
          </a:xfrm>
          <a:custGeom>
            <a:rect b="b" l="l" r="r" t="t"/>
            <a:pathLst>
              <a:path extrusionOk="0" h="8229600" w="6830568">
                <a:moveTo>
                  <a:pt x="0" y="0"/>
                </a:moveTo>
                <a:lnTo>
                  <a:pt x="6830568" y="0"/>
                </a:lnTo>
                <a:lnTo>
                  <a:pt x="68305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8"/>
          <p:cNvSpPr/>
          <p:nvPr/>
        </p:nvSpPr>
        <p:spPr>
          <a:xfrm>
            <a:off x="6652195" y="6851678"/>
            <a:ext cx="1286333" cy="1351304"/>
          </a:xfrm>
          <a:custGeom>
            <a:rect b="b" l="l" r="r" t="t"/>
            <a:pathLst>
              <a:path extrusionOk="0" h="3992999" w="3801015">
                <a:moveTo>
                  <a:pt x="0" y="0"/>
                </a:moveTo>
                <a:lnTo>
                  <a:pt x="3801015" y="0"/>
                </a:lnTo>
                <a:lnTo>
                  <a:pt x="3801015" y="3992999"/>
                </a:lnTo>
                <a:lnTo>
                  <a:pt x="0" y="3992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57080" r="0" t="-49528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4771" y="0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296400" y="2149571"/>
            <a:ext cx="8358192" cy="4670329"/>
          </a:xfrm>
          <a:prstGeom prst="roundRect">
            <a:avLst>
              <a:gd fmla="val 6466" name="adj"/>
            </a:avLst>
          </a:prstGeom>
          <a:gradFill>
            <a:gsLst>
              <a:gs pos="0">
                <a:srgbClr val="DDE8EB">
                  <a:alpha val="10196"/>
                </a:srgbClr>
              </a:gs>
              <a:gs pos="50000">
                <a:srgbClr val="CEDCE9">
                  <a:alpha val="0"/>
                </a:srgbClr>
              </a:gs>
              <a:gs pos="100000">
                <a:srgbClr val="DDE8EB">
                  <a:alpha val="10196"/>
                </a:srgbClr>
              </a:gs>
            </a:gsLst>
            <a:lin ang="0" scaled="0"/>
          </a:gradFill>
          <a:ln cap="flat" cmpd="sng" w="1905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9"/>
          <p:cNvGrpSpPr/>
          <p:nvPr/>
        </p:nvGrpSpPr>
        <p:grpSpPr>
          <a:xfrm rot="5400000">
            <a:off x="4619198" y="1283636"/>
            <a:ext cx="9329765" cy="8948959"/>
            <a:chOff x="0" y="0"/>
            <a:chExt cx="622300" cy="596900"/>
          </a:xfrm>
        </p:grpSpPr>
        <p:sp>
          <p:nvSpPr>
            <p:cNvPr id="239" name="Google Shape;239;p9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 rot="5400000">
            <a:off x="4203945" y="14401703"/>
            <a:ext cx="9329765" cy="8948959"/>
            <a:chOff x="0" y="0"/>
            <a:chExt cx="622300" cy="596900"/>
          </a:xfrm>
        </p:grpSpPr>
        <p:sp>
          <p:nvSpPr>
            <p:cNvPr id="242" name="Google Shape;242;p9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9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556349" y="802652"/>
            <a:ext cx="170153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Covariáveis e Análise Estatística</a:t>
            </a:r>
            <a:endParaRPr b="1" sz="6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 flipH="1" rot="10800000">
            <a:off x="586836" y="1787010"/>
            <a:ext cx="14119764" cy="3690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 txBox="1"/>
          <p:nvPr/>
        </p:nvSpPr>
        <p:spPr>
          <a:xfrm>
            <a:off x="633409" y="2149571"/>
            <a:ext cx="7062900" cy="6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Variáveis de </a:t>
            </a:r>
            <a:r>
              <a:rPr b="1" lang="pt-PT" sz="4800">
                <a:solidFill>
                  <a:srgbClr val="D8D8D8"/>
                </a:solidFill>
              </a:rPr>
              <a:t>Confundimento</a:t>
            </a: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/ Ajustamento: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Tabagismo: Historial e maços-ano (relação protetora e forte correlação comportamental) </a:t>
            </a:r>
            <a:endParaRPr/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Álcool, terapia hormonal de substituição, história familiar de DP </a:t>
            </a:r>
            <a:endParaRPr/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Exposição ocupacional a pesticidas e traumatismos cranianos prévios 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9602069" y="3266601"/>
            <a:ext cx="7730147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Regressão Logística Condicional (ajustada ao emparelhamento 1:1)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Obtenção de "OR"bruto e "OR"multivariado ajustado (IC 95%)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Estratificação: Por estatuto tabágico (nunca, ex e atuais) e por sexo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9602069" y="2401877"/>
            <a:ext cx="792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D8D8D8"/>
                </a:solidFill>
              </a:rPr>
              <a:t>Análise </a:t>
            </a:r>
            <a:r>
              <a:rPr b="1" lang="pt-PT" sz="4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Estatística: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0" y="0"/>
            <a:ext cx="18287999" cy="10358464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8" r="-11439" t="-358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4771" y="0"/>
            <a:ext cx="18287999" cy="10358464"/>
          </a:xfrm>
          <a:prstGeom prst="rect">
            <a:avLst/>
          </a:prstGeom>
          <a:solidFill>
            <a:schemeClr val="dk1">
              <a:alpha val="1490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10"/>
          <p:cNvGrpSpPr/>
          <p:nvPr/>
        </p:nvGrpSpPr>
        <p:grpSpPr>
          <a:xfrm rot="5400000">
            <a:off x="4619198" y="1283636"/>
            <a:ext cx="9329765" cy="8948959"/>
            <a:chOff x="0" y="0"/>
            <a:chExt cx="622300" cy="596900"/>
          </a:xfrm>
        </p:grpSpPr>
        <p:sp>
          <p:nvSpPr>
            <p:cNvPr id="257" name="Google Shape;257;p10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0"/>
          <p:cNvGrpSpPr/>
          <p:nvPr/>
        </p:nvGrpSpPr>
        <p:grpSpPr>
          <a:xfrm rot="5400000">
            <a:off x="4203945" y="14401703"/>
            <a:ext cx="9329765" cy="8948959"/>
            <a:chOff x="0" y="0"/>
            <a:chExt cx="622300" cy="596900"/>
          </a:xfrm>
        </p:grpSpPr>
        <p:sp>
          <p:nvSpPr>
            <p:cNvPr id="260" name="Google Shape;260;p10"/>
            <p:cNvSpPr/>
            <p:nvPr/>
          </p:nvSpPr>
          <p:spPr>
            <a:xfrm>
              <a:off x="0" y="0"/>
              <a:ext cx="622300" cy="596900"/>
            </a:xfrm>
            <a:custGeom>
              <a:rect b="b" l="l" r="r" t="t"/>
              <a:pathLst>
                <a:path extrusionOk="0"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02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1569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0" y="174625"/>
              <a:ext cx="6223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0"/>
          <p:cNvSpPr txBox="1"/>
          <p:nvPr/>
        </p:nvSpPr>
        <p:spPr>
          <a:xfrm>
            <a:off x="556349" y="802652"/>
            <a:ext cx="170153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Limitações e Mitigação</a:t>
            </a:r>
            <a:endParaRPr b="1" sz="6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0"/>
          <p:cNvCxnSpPr/>
          <p:nvPr/>
        </p:nvCxnSpPr>
        <p:spPr>
          <a:xfrm>
            <a:off x="586836" y="1790700"/>
            <a:ext cx="9015233" cy="0"/>
          </a:xfrm>
          <a:prstGeom prst="straightConnector1">
            <a:avLst/>
          </a:prstGeom>
          <a:noFill/>
          <a:ln cap="flat" cmpd="sng" w="50800">
            <a:solidFill>
              <a:srgbClr val="DDE8E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0"/>
          <p:cNvSpPr txBox="1"/>
          <p:nvPr/>
        </p:nvSpPr>
        <p:spPr>
          <a:xfrm>
            <a:off x="633408" y="2149571"/>
            <a:ext cx="7291392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Viés de Memória: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Mitigação: Casos recentes (&lt;2 anos) e controlos do mesmo ambiente hospitalar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Causalidade Reversa: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Degenerescência dopaminérgica precoce pode reduzir o consumo pré-clínico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Mitigação: Medição focada na janela temporal de 5 a 10 anos antes dos primeiros sintomas </a:t>
            </a:r>
            <a:endParaRPr/>
          </a:p>
          <a:p>
            <a:pPr indent="-241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10058400" y="2154380"/>
            <a:ext cx="7154472" cy="5109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Variabilidade Química: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Diferenças entre marcas/métodos não captadas por teores fixos estandardizados </a:t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Natureza Observacional: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Char char="•"/>
            </a:pPr>
            <a:r>
              <a:rPr lang="pt-PT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Demonstração de associação epidemiológica independente, sem garantia de causalidade causal estrita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Afonso Santos</dc:creator>
</cp:coreProperties>
</file>